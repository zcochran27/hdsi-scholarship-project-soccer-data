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43891200" cy="329184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gMz+OWqnqH0Lk/xz1YeUwz86kd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" d="100"/>
          <a:sy n="22" d="100"/>
        </p:scale>
        <p:origin x="5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D0FC1F0-BA80-8EBE-9CB8-AF814E034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73DCAD4-B07F-A385-64BE-14BCBCD5DC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CCCD70E-A630-47C1-CB3C-C63EEF798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7519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/>
            </a:lvl1pPr>
            <a:lvl2pPr lvl="1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/>
            </a:lvl2pPr>
            <a:lvl3pPr lvl="2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/>
            </a:lvl3pPr>
            <a:lvl4pPr lvl="3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4pPr>
            <a:lvl5pPr lvl="4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5pPr>
            <a:lvl6pPr lvl="5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6pPr>
            <a:lvl7pPr lvl="6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7pPr>
            <a:lvl8pPr lvl="7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8pPr>
            <a:lvl9pPr lvl="8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 sz="96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8640"/>
              <a:buNone/>
              <a:defRPr sz="864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3017520" y="8763000"/>
            <a:ext cx="18653760" cy="208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22219920" y="8763000"/>
            <a:ext cx="18653760" cy="208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 b="1"/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 b="1"/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 b="1"/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3023242" y="12024360"/>
            <a:ext cx="18568032" cy="17686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22219922" y="8069582"/>
            <a:ext cx="18659477" cy="395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 b="1"/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 b="1"/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 b="1"/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22219922" y="12024360"/>
            <a:ext cx="18659477" cy="17686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53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8659477" y="4739647"/>
            <a:ext cx="22219920" cy="233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120396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60"/>
              <a:buChar char="•"/>
              <a:defRPr sz="15360"/>
            </a:lvl1pPr>
            <a:lvl2pPr marL="914400" lvl="1" indent="-108204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440"/>
              <a:buChar char="•"/>
              <a:defRPr sz="13440"/>
            </a:lvl2pPr>
            <a:lvl3pPr marL="1371600" lvl="2" indent="-96012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11520"/>
            </a:lvl3pPr>
            <a:lvl4pPr marL="1828800" lvl="3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4pPr>
            <a:lvl5pPr marL="2286000" lvl="4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5pPr>
            <a:lvl6pPr marL="2743200" lvl="5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6pPr>
            <a:lvl7pPr marL="3200400" lvl="6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7pPr>
            <a:lvl8pPr marL="3657600" lvl="7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8pPr>
            <a:lvl9pPr marL="4114800" lvl="8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3023237" y="9875520"/>
            <a:ext cx="14156054" cy="1829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/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53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8659477" y="4739647"/>
            <a:ext cx="2221992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023237" y="9875520"/>
            <a:ext cx="14156054" cy="1829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/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11502389" y="278131"/>
            <a:ext cx="20886422" cy="3785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22193251" y="10968991"/>
            <a:ext cx="27896822" cy="946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2990851" y="1779271"/>
            <a:ext cx="27896822" cy="2784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20"/>
              <a:buFont typeface="Calibri"/>
              <a:buNone/>
              <a:defRPr sz="211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108204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Arial"/>
              <a:buChar char="•"/>
              <a:defRPr sz="13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6012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Arial"/>
              <a:buChar char="•"/>
              <a:defRPr sz="11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3820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7724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7724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7724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7724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7724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7724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zcochran27/HDSI-SCHOLARSHIP-PROJECT-SOCCER-DATA" TargetMode="External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9206E2B0-7A60-36F8-49E4-FEF8AA121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>
            <a:extLst>
              <a:ext uri="{FF2B5EF4-FFF2-40B4-BE49-F238E27FC236}">
                <a16:creationId xmlns:a16="http://schemas.microsoft.com/office/drawing/2014/main" id="{B767F2BE-B069-A12C-8151-F07001676B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7445" y="30582238"/>
            <a:ext cx="7779964" cy="168201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A2466B33-7B25-0EFD-8EE5-1C486517D218}"/>
              </a:ext>
            </a:extLst>
          </p:cNvPr>
          <p:cNvSpPr txBox="1"/>
          <p:nvPr/>
        </p:nvSpPr>
        <p:spPr>
          <a:xfrm>
            <a:off x="36377482" y="31285528"/>
            <a:ext cx="7391678" cy="978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6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datascience.ucsd.edu</a:t>
            </a:r>
            <a:endParaRPr dirty="0"/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AEC9ACF1-00AA-D1B7-8DD9-C81FCA04F692}"/>
              </a:ext>
            </a:extLst>
          </p:cNvPr>
          <p:cNvSpPr/>
          <p:nvPr/>
        </p:nvSpPr>
        <p:spPr>
          <a:xfrm>
            <a:off x="736419" y="3292101"/>
            <a:ext cx="13397467" cy="82052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0" b="0" i="0" u="none" strike="noStrike" cap="none" dirty="0">
                <a:solidFill>
                  <a:srgbClr val="0179A3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r>
              <a:rPr lang="en-US" sz="6000" dirty="0">
                <a:solidFill>
                  <a:srgbClr val="0179A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</a:p>
          <a:p>
            <a:pPr marL="457200" lvl="1">
              <a:spcAft>
                <a:spcPts val="600"/>
              </a:spcAft>
            </a:pPr>
            <a:r>
              <a:rPr lang="en-US" sz="36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Valuing actions in soccer is one of the hardest and most crucial parts for both game analysis and recruiting. F</a:t>
            </a:r>
            <a:r>
              <a:rPr lang="en-US" sz="36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rameworks like </a:t>
            </a:r>
            <a:r>
              <a:rPr lang="en-US" sz="36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xG</a:t>
            </a:r>
            <a:r>
              <a:rPr lang="en-US" sz="36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36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xT</a:t>
            </a:r>
            <a:r>
              <a:rPr lang="en-US" sz="36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, and VAEP excel at modeling offensive contributions but struggle with defensive actions that prevent events rather than cause them. This work takes a counterfactual approach: measuring how a defender's action shifts danger relative to what was expected given the duel's context.</a:t>
            </a:r>
          </a:p>
          <a:p>
            <a:pPr marL="457200" lvl="1">
              <a:spcAft>
                <a:spcPts val="600"/>
              </a:spcAft>
            </a:pPr>
            <a:endParaRPr sz="3600" dirty="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0" b="0" i="0" u="none" strike="noStrike" cap="none" dirty="0">
                <a:solidFill>
                  <a:srgbClr val="0179A3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r>
              <a:rPr lang="en-US" sz="6000" dirty="0">
                <a:solidFill>
                  <a:srgbClr val="0179A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457200" marR="0" lvl="1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From observed defensive duels model defensive duel value as the expected danger minus the actual danger of the duel. </a:t>
            </a:r>
            <a:endParaRPr sz="3600" dirty="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1">
            <a:extLst>
              <a:ext uri="{FF2B5EF4-FFF2-40B4-BE49-F238E27FC236}">
                <a16:creationId xmlns:a16="http://schemas.microsoft.com/office/drawing/2014/main" id="{5B4C816C-9EC1-FD52-DEA9-BE360BBE9C54}"/>
              </a:ext>
            </a:extLst>
          </p:cNvPr>
          <p:cNvSpPr/>
          <p:nvPr/>
        </p:nvSpPr>
        <p:spPr>
          <a:xfrm>
            <a:off x="30474909" y="25336063"/>
            <a:ext cx="12520766" cy="44009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6000" dirty="0">
                <a:solidFill>
                  <a:srgbClr val="0179A3"/>
                </a:solidFill>
                <a:latin typeface="Calibri"/>
                <a:ea typeface="Calibri"/>
                <a:cs typeface="Calibri"/>
                <a:sym typeface="Calibri"/>
              </a:rPr>
              <a:t>Conclusion:</a:t>
            </a: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Estimating defensive duel value as expected danger – observed danger allows us to wholistic view about a player’s / team’s defensive capabilities for analysis and recruiting purposes.  We were also able to determine the factors that makes defensive duels difficult and dangerous. </a:t>
            </a:r>
            <a:endParaRPr sz="3600" dirty="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44AF3202-106E-B913-976E-8401453854FB}"/>
              </a:ext>
            </a:extLst>
          </p:cNvPr>
          <p:cNvSpPr txBox="1"/>
          <p:nvPr/>
        </p:nvSpPr>
        <p:spPr>
          <a:xfrm>
            <a:off x="736418" y="20284161"/>
            <a:ext cx="13397467" cy="951025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BE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0179A3"/>
                </a:solidFill>
                <a:latin typeface="Calibri"/>
                <a:ea typeface="Calibri"/>
                <a:cs typeface="Calibri"/>
                <a:sym typeface="Calibri"/>
              </a:rPr>
              <a:t>Defensive Duel Value (DDV) Definition</a:t>
            </a:r>
            <a:endParaRPr sz="60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Where P(goal) is the probability of conceding a goal in the next 20 seconds and c is the outcome of the duel (beat, stopped, or recovered) and s are the speed of play features.</a:t>
            </a: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0B8E5B07-0971-6440-1C5C-FD8C05DABAFB}"/>
              </a:ext>
            </a:extLst>
          </p:cNvPr>
          <p:cNvSpPr txBox="1"/>
          <p:nvPr/>
        </p:nvSpPr>
        <p:spPr>
          <a:xfrm>
            <a:off x="736418" y="11923512"/>
            <a:ext cx="13397467" cy="793448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BE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2">
              <a:spcAft>
                <a:spcPts val="600"/>
              </a:spcAft>
            </a:pPr>
            <a:r>
              <a:rPr lang="en-US" sz="6000" dirty="0">
                <a:solidFill>
                  <a:srgbClr val="0179A3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r>
              <a:rPr lang="en-US" sz="4320" dirty="0">
                <a:solidFill>
                  <a:srgbClr val="0179A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457200">
              <a:spcAft>
                <a:spcPts val="600"/>
              </a:spcAft>
            </a:pPr>
            <a:r>
              <a:rPr lang="en-US" sz="36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Data from </a:t>
            </a:r>
            <a:r>
              <a:rPr lang="en-US" sz="3600" b="1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800k+ defensive duels </a:t>
            </a:r>
            <a:r>
              <a:rPr lang="en-US" sz="36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across </a:t>
            </a:r>
            <a:r>
              <a:rPr lang="en-US" sz="3600" b="1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7k+ Wyscout matches </a:t>
            </a:r>
            <a:r>
              <a:rPr lang="en-US" sz="36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were analyzed. For each duel, outcome and spatial features were extracted, and a binary danger label was assigned based on whether a goal was conceded within 20 seconds of the duel.</a:t>
            </a:r>
          </a:p>
          <a:p>
            <a:pPr marL="457200">
              <a:spcAft>
                <a:spcPts val="600"/>
              </a:spcAft>
            </a:pPr>
            <a:r>
              <a:rPr lang="en-US" sz="36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Three speed-of-play features captured pre-duel ball tempo: net x-displacement of the ball in the prior 30 seconds, total ball distance in the prior 30 seconds, and the ratio of ball distance over 30 vs. 60 seconds.</a:t>
            </a:r>
          </a:p>
          <a:p>
            <a:pPr marL="457200">
              <a:spcAft>
                <a:spcPts val="600"/>
              </a:spcAft>
            </a:pPr>
            <a:r>
              <a:rPr lang="en-US" sz="36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Trained two LGB models: one to predict the difficulty of the duel (outcome: beat, stopped, recovered), and one to predict the danger (goal conceded in next 20s). Each model is trained on the spatial and speed of play features with the supervised outcomes. </a:t>
            </a: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32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8ADCBF8C-1976-38F4-5961-25F8090B1C14}"/>
              </a:ext>
            </a:extLst>
          </p:cNvPr>
          <p:cNvSpPr txBox="1"/>
          <p:nvPr/>
        </p:nvSpPr>
        <p:spPr>
          <a:xfrm>
            <a:off x="30474909" y="3292101"/>
            <a:ext cx="12520766" cy="2158266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BE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0179A3"/>
                </a:solidFill>
                <a:latin typeface="Calibri"/>
                <a:ea typeface="Calibri"/>
                <a:cs typeface="Calibri"/>
                <a:sym typeface="Calibri"/>
              </a:rPr>
              <a:t>Model Inference:</a:t>
            </a: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Scan the QR code or visit the GitHub to </a:t>
            </a: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explore the model results in more depth.</a:t>
            </a: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4800" dirty="0">
                <a:solidFill>
                  <a:srgbClr val="0179A3"/>
                </a:solidFill>
                <a:latin typeface="Calibri"/>
                <a:ea typeface="Calibri"/>
                <a:cs typeface="Calibri"/>
                <a:sym typeface="Calibri"/>
              </a:rPr>
              <a:t>Key Insights:</a:t>
            </a:r>
          </a:p>
          <a:p>
            <a:pPr marL="1028700" marR="0" lvl="0" indent="-571500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Duels at the corners of the 18 are significantly more difficult (~15%)</a:t>
            </a:r>
          </a:p>
          <a:p>
            <a:pPr marL="1028700" marR="0" lvl="0" indent="-571500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Losing duels in the box is extremely dangerous</a:t>
            </a:r>
          </a:p>
          <a:p>
            <a:pPr marL="1028700" lvl="8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Total ball movement can affect difficulty by ~15% at the corners of the 18 and can affect danger by ~10% in the center of box.</a:t>
            </a:r>
          </a:p>
          <a:p>
            <a:pPr marL="1028700" lvl="3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A large negative displacement in x in past 30s increases p(recovered) in middle of box by ~4% but increases p(beat) at corners of 18 by ~2%.</a:t>
            </a:r>
          </a:p>
          <a:p>
            <a:pPr marL="1028700" lvl="3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Large difference in tempo between 30s an 60s  increases P(recovered) by ~4%.</a:t>
            </a:r>
          </a:p>
          <a:p>
            <a:pPr marL="457200">
              <a:spcAft>
                <a:spcPts val="600"/>
              </a:spcAft>
            </a:pPr>
            <a:r>
              <a:rPr lang="en-US" sz="4800" dirty="0">
                <a:solidFill>
                  <a:srgbClr val="0179A3"/>
                </a:solidFill>
                <a:latin typeface="Calibri"/>
                <a:ea typeface="Calibri"/>
                <a:cs typeface="Calibri"/>
                <a:sym typeface="Calibri"/>
              </a:rPr>
              <a:t>Performance Validation:</a:t>
            </a:r>
          </a:p>
          <a:p>
            <a:pPr marL="1028700" lvl="3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High duel value is significantly correlated with lower mean goals conceded across a season.</a:t>
            </a:r>
          </a:p>
          <a:p>
            <a:pPr marL="1028700" lvl="3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Duel value is a significantly better predictor of mean goals conceded than current defensive metrics.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>
            <a:extLst>
              <a:ext uri="{FF2B5EF4-FFF2-40B4-BE49-F238E27FC236}">
                <a16:creationId xmlns:a16="http://schemas.microsoft.com/office/drawing/2014/main" id="{A9C94B31-D4CC-8A90-63B6-6BA5146F73E6}"/>
              </a:ext>
            </a:extLst>
          </p:cNvPr>
          <p:cNvSpPr txBox="1"/>
          <p:nvPr/>
        </p:nvSpPr>
        <p:spPr>
          <a:xfrm>
            <a:off x="736428" y="834375"/>
            <a:ext cx="187398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60" b="1" dirty="0">
                <a:solidFill>
                  <a:schemeClr val="lt1"/>
                </a:solidFill>
              </a:rPr>
              <a:t>Valuing</a:t>
            </a:r>
            <a:r>
              <a:rPr lang="en-US" sz="576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Defensive Duels in </a:t>
            </a:r>
            <a:r>
              <a:rPr lang="en-US" sz="5760" b="1" dirty="0">
                <a:solidFill>
                  <a:schemeClr val="lt1"/>
                </a:solidFill>
              </a:rPr>
              <a:t>D1 Soccer</a:t>
            </a:r>
            <a:endParaRPr dirty="0"/>
          </a:p>
        </p:txBody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EF3C1CDA-87D5-B7A2-866A-418241138C50}"/>
              </a:ext>
            </a:extLst>
          </p:cNvPr>
          <p:cNvSpPr txBox="1"/>
          <p:nvPr/>
        </p:nvSpPr>
        <p:spPr>
          <a:xfrm>
            <a:off x="26357786" y="764711"/>
            <a:ext cx="163251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6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Cochran</a:t>
            </a:r>
            <a:r>
              <a:rPr lang="en-US" sz="5760" b="1" dirty="0">
                <a:solidFill>
                  <a:schemeClr val="lt1"/>
                </a:solidFill>
              </a:rPr>
              <a:t>, Zach</a:t>
            </a:r>
            <a:endParaRPr dirty="0"/>
          </a:p>
        </p:txBody>
      </p:sp>
      <p:pic>
        <p:nvPicPr>
          <p:cNvPr id="101" name="Google Shape;101;p1" title="p_outcome_panel_sop.png">
            <a:extLst>
              <a:ext uri="{FF2B5EF4-FFF2-40B4-BE49-F238E27FC236}">
                <a16:creationId xmlns:a16="http://schemas.microsoft.com/office/drawing/2014/main" id="{0443F45E-73C5-78F0-49FF-EBD420802B7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59700" y="3292112"/>
            <a:ext cx="15489377" cy="473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 title="p_goal_panel_sop.png">
            <a:extLst>
              <a:ext uri="{FF2B5EF4-FFF2-40B4-BE49-F238E27FC236}">
                <a16:creationId xmlns:a16="http://schemas.microsoft.com/office/drawing/2014/main" id="{3FB069AB-09DA-574B-8166-5BAF1E1941C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59379" y="10239769"/>
            <a:ext cx="15488701" cy="464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C26290-9AA6-D9AC-D11E-191E82794B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59379" y="17135242"/>
            <a:ext cx="15489069" cy="4643575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A74A2F6A-3566-A860-DF7F-5CE5AD02F501}"/>
              </a:ext>
            </a:extLst>
          </p:cNvPr>
          <p:cNvSpPr/>
          <p:nvPr/>
        </p:nvSpPr>
        <p:spPr>
          <a:xfrm>
            <a:off x="21118286" y="15164602"/>
            <a:ext cx="1654628" cy="168938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lus Sign 5">
            <a:extLst>
              <a:ext uri="{FF2B5EF4-FFF2-40B4-BE49-F238E27FC236}">
                <a16:creationId xmlns:a16="http://schemas.microsoft.com/office/drawing/2014/main" id="{34E67565-364C-6873-369E-3A08AC7D1B26}"/>
              </a:ext>
            </a:extLst>
          </p:cNvPr>
          <p:cNvSpPr/>
          <p:nvPr/>
        </p:nvSpPr>
        <p:spPr>
          <a:xfrm>
            <a:off x="20965886" y="8123424"/>
            <a:ext cx="1959428" cy="1939293"/>
          </a:xfrm>
          <a:prstGeom prst="mathPlu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91;p1">
            <a:extLst>
              <a:ext uri="{FF2B5EF4-FFF2-40B4-BE49-F238E27FC236}">
                <a16:creationId xmlns:a16="http://schemas.microsoft.com/office/drawing/2014/main" id="{37DA6468-63BB-2B2E-3CB8-95FD51E7D98A}"/>
              </a:ext>
            </a:extLst>
          </p:cNvPr>
          <p:cNvSpPr txBox="1"/>
          <p:nvPr/>
        </p:nvSpPr>
        <p:spPr>
          <a:xfrm>
            <a:off x="736418" y="1813264"/>
            <a:ext cx="18739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3600" b="1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https://github.com/zcochran27/HDSI-SCHOLARSHIP-PROJECT-SOCCER-DATA</a:t>
            </a:r>
            <a:endParaRPr sz="36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2349E-2673-AFA9-572F-39694D0E9B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7541" y="28485523"/>
            <a:ext cx="10133381" cy="1014638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04316DAB-2E1F-FF17-B06E-7E98D57B03EE}"/>
              </a:ext>
            </a:extLst>
          </p:cNvPr>
          <p:cNvGrpSpPr/>
          <p:nvPr/>
        </p:nvGrpSpPr>
        <p:grpSpPr>
          <a:xfrm>
            <a:off x="1429117" y="21947057"/>
            <a:ext cx="12012067" cy="3916539"/>
            <a:chOff x="1429117" y="21312458"/>
            <a:chExt cx="12012067" cy="391653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1C624F6-3A46-A039-A4C1-4D2FE363B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827323" y="21312458"/>
              <a:ext cx="11215656" cy="77412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3329C36-E66A-68BD-B1A8-869C5758A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67281" y="24353815"/>
              <a:ext cx="11973903" cy="87518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CD0C22B-D7FF-4FFE-C04A-645856210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29117" y="22512706"/>
              <a:ext cx="12012067" cy="1414981"/>
            </a:xfrm>
            <a:prstGeom prst="rect">
              <a:avLst/>
            </a:prstGeom>
          </p:spPr>
        </p:pic>
      </p:grpSp>
      <p:sp>
        <p:nvSpPr>
          <p:cNvPr id="21" name="Google Shape;90;p1">
            <a:extLst>
              <a:ext uri="{FF2B5EF4-FFF2-40B4-BE49-F238E27FC236}">
                <a16:creationId xmlns:a16="http://schemas.microsoft.com/office/drawing/2014/main" id="{03F9F441-24A4-53A4-04AF-F1C328EEBB71}"/>
              </a:ext>
            </a:extLst>
          </p:cNvPr>
          <p:cNvSpPr txBox="1"/>
          <p:nvPr/>
        </p:nvSpPr>
        <p:spPr>
          <a:xfrm>
            <a:off x="14559379" y="23162931"/>
            <a:ext cx="15488701" cy="647064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BE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0179A3"/>
                </a:solidFill>
                <a:latin typeface="Calibri"/>
                <a:ea typeface="Calibri"/>
                <a:cs typeface="Calibri"/>
                <a:sym typeface="Calibri"/>
              </a:rPr>
              <a:t>DDV Density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Where most duel value comes from each outcome.</a:t>
            </a:r>
            <a:endParaRPr lang="en-US" sz="60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35318F2-E26A-BB0B-F716-011C5D510C7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559379" y="25336063"/>
            <a:ext cx="15565800" cy="44009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B896B68-EE3E-8AF9-2F4B-9DA4DD6E8B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333715" y="3292102"/>
            <a:ext cx="2661960" cy="26619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91D23B4-5C9B-FE29-56A3-E077708E6F57}"/>
              </a:ext>
            </a:extLst>
          </p:cNvPr>
          <p:cNvGrpSpPr/>
          <p:nvPr/>
        </p:nvGrpSpPr>
        <p:grpSpPr>
          <a:xfrm>
            <a:off x="30779709" y="5998502"/>
            <a:ext cx="11903177" cy="6991653"/>
            <a:chOff x="30779709" y="6509232"/>
            <a:chExt cx="11903177" cy="699165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2E586D8-919E-E297-83BC-5C1B74735DC1}"/>
                </a:ext>
              </a:extLst>
            </p:cNvPr>
            <p:cNvGrpSpPr/>
            <p:nvPr/>
          </p:nvGrpSpPr>
          <p:grpSpPr>
            <a:xfrm>
              <a:off x="30779709" y="6509232"/>
              <a:ext cx="11903177" cy="3814064"/>
              <a:chOff x="30779709" y="6509232"/>
              <a:chExt cx="18259081" cy="5850648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1729166-496F-BC2B-8BAF-4D8A64EC12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779709" y="6509232"/>
                <a:ext cx="5090170" cy="5850648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5D42AB7-ECC8-BFB6-3870-44853F8D06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5869879" y="6509232"/>
                <a:ext cx="5865888" cy="5850648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3EF4E221-8E26-9049-B67C-80FEF334B1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35767" y="6509232"/>
                <a:ext cx="7303023" cy="5850648"/>
              </a:xfrm>
              <a:prstGeom prst="rect">
                <a:avLst/>
              </a:prstGeom>
            </p:spPr>
          </p:pic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46E4706-653A-C863-0133-E314E970CFFD}"/>
                </a:ext>
              </a:extLst>
            </p:cNvPr>
            <p:cNvGrpSpPr/>
            <p:nvPr/>
          </p:nvGrpSpPr>
          <p:grpSpPr>
            <a:xfrm>
              <a:off x="30779709" y="10323297"/>
              <a:ext cx="11903177" cy="3177588"/>
              <a:chOff x="28184968" y="13194897"/>
              <a:chExt cx="21927820" cy="5853696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7B2AF227-8DFB-5153-F6A9-42A3AF5AF4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4151904" y="13194897"/>
                <a:ext cx="6891542" cy="5853696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A5A631A9-589F-EE30-A07D-FBD6A7835C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184968" y="13194897"/>
                <a:ext cx="6021336" cy="5853696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5233663A-D7DC-5130-8EA4-321578E920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043446" y="13194897"/>
                <a:ext cx="9069342" cy="5853696"/>
              </a:xfrm>
              <a:prstGeom prst="rect">
                <a:avLst/>
              </a:prstGeom>
            </p:spPr>
          </p:pic>
        </p:grp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D4AE00E4-EE83-CEA5-40D7-05A7F23B4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393713"/>
              </p:ext>
            </p:extLst>
          </p:nvPr>
        </p:nvGraphicFramePr>
        <p:xfrm>
          <a:off x="36377481" y="20820926"/>
          <a:ext cx="6618194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9097">
                  <a:extLst>
                    <a:ext uri="{9D8B030D-6E8A-4147-A177-3AD203B41FA5}">
                      <a16:colId xmlns:a16="http://schemas.microsoft.com/office/drawing/2014/main" val="590112637"/>
                    </a:ext>
                  </a:extLst>
                </a:gridCol>
                <a:gridCol w="3309097">
                  <a:extLst>
                    <a:ext uri="{9D8B030D-6E8A-4147-A177-3AD203B41FA5}">
                      <a16:colId xmlns:a16="http://schemas.microsoft.com/office/drawing/2014/main" val="2148568172"/>
                    </a:ext>
                  </a:extLst>
                </a:gridCol>
              </a:tblGrid>
              <a:tr h="464760">
                <a:tc>
                  <a:txBody>
                    <a:bodyPr/>
                    <a:lstStyle/>
                    <a:p>
                      <a:r>
                        <a:rPr lang="en-US" sz="3200" dirty="0"/>
                        <a:t>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 Squared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984081"/>
                  </a:ext>
                </a:extLst>
              </a:tr>
              <a:tr h="464760">
                <a:tc>
                  <a:txBody>
                    <a:bodyPr/>
                    <a:lstStyle/>
                    <a:p>
                      <a:r>
                        <a:rPr lang="en-US" sz="3200" dirty="0"/>
                        <a:t>Sum Duel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250536"/>
                  </a:ext>
                </a:extLst>
              </a:tr>
              <a:tr h="464760">
                <a:tc>
                  <a:txBody>
                    <a:bodyPr/>
                    <a:lstStyle/>
                    <a:p>
                      <a:r>
                        <a:rPr lang="en-US" sz="3200" dirty="0"/>
                        <a:t>Mean Duel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46595"/>
                  </a:ext>
                </a:extLst>
              </a:tr>
              <a:tr h="464760">
                <a:tc>
                  <a:txBody>
                    <a:bodyPr/>
                    <a:lstStyle/>
                    <a:p>
                      <a:r>
                        <a:rPr lang="en-US" sz="3200" dirty="0"/>
                        <a:t>Recover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730002"/>
                  </a:ext>
                </a:extLst>
              </a:tr>
              <a:tr h="464760">
                <a:tc>
                  <a:txBody>
                    <a:bodyPr/>
                    <a:lstStyle/>
                    <a:p>
                      <a:r>
                        <a:rPr lang="en-US" sz="3200" dirty="0"/>
                        <a:t>Stopped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321552"/>
                  </a:ext>
                </a:extLst>
              </a:tr>
              <a:tr h="464760">
                <a:tc>
                  <a:txBody>
                    <a:bodyPr/>
                    <a:lstStyle/>
                    <a:p>
                      <a:r>
                        <a:rPr lang="en-US" sz="3200" dirty="0"/>
                        <a:t>Recover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952156"/>
                  </a:ext>
                </a:extLst>
              </a:tr>
              <a:tr h="464760">
                <a:tc>
                  <a:txBody>
                    <a:bodyPr/>
                    <a:lstStyle/>
                    <a:p>
                      <a:r>
                        <a:rPr lang="en-US" sz="3200" dirty="0"/>
                        <a:t>Stop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915509"/>
                  </a:ext>
                </a:extLst>
              </a:tr>
            </a:tbl>
          </a:graphicData>
        </a:graphic>
      </p:graphicFrame>
      <p:pic>
        <p:nvPicPr>
          <p:cNvPr id="37" name="Picture 36">
            <a:extLst>
              <a:ext uri="{FF2B5EF4-FFF2-40B4-BE49-F238E27FC236}">
                <a16:creationId xmlns:a16="http://schemas.microsoft.com/office/drawing/2014/main" id="{584F87D8-BDF9-4F95-914D-EA8A1801D8D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473574" y="20865366"/>
            <a:ext cx="5903907" cy="403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147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2099</TotalTime>
  <Words>554</Words>
  <Application>Microsoft Office PowerPoint</Application>
  <PresentationFormat>Custom</PresentationFormat>
  <Paragraphs>71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SDSC ITS</dc:creator>
  <cp:lastModifiedBy>Zach Cochran</cp:lastModifiedBy>
  <cp:revision>9</cp:revision>
  <dcterms:created xsi:type="dcterms:W3CDTF">2019-02-25T23:19:29Z</dcterms:created>
  <dcterms:modified xsi:type="dcterms:W3CDTF">2026-04-29T23:49:43Z</dcterms:modified>
</cp:coreProperties>
</file>