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61" r:id="rId2"/>
  </p:sldIdLst>
  <p:sldSz cx="43891200" cy="32918400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gMz+OWqnqH0Lk/xz1YeUwz86kd5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" d="100"/>
          <a:sy n="20" d="100"/>
        </p:scale>
        <p:origin x="157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524300" y="514350"/>
            <a:ext cx="60963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6ECB715F-B2C6-3583-EEC7-6DC78D831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6E1146B1-76D6-20D7-4A66-14DE16D273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FD3B780-E528-FD7D-5A5E-D6C058BF01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79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2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/>
            </a:lvl1pPr>
            <a:lvl2pPr lvl="1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/>
            </a:lvl2pPr>
            <a:lvl3pPr lvl="2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8640"/>
            </a:lvl3pPr>
            <a:lvl4pPr lvl="3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4pPr>
            <a:lvl5pPr lvl="4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5pPr>
            <a:lvl6pPr lvl="5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6pPr>
            <a:lvl7pPr lvl="6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7pPr>
            <a:lvl8pPr lvl="7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8pPr>
            <a:lvl9pPr lvl="8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2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9600"/>
              <a:buNone/>
              <a:defRPr sz="9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8640"/>
              <a:buNone/>
              <a:defRPr sz="864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3017520" y="8763000"/>
            <a:ext cx="18653760" cy="20886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22219920" y="8763000"/>
            <a:ext cx="18653760" cy="20886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 b="1"/>
            </a:lvl1pPr>
            <a:lvl2pPr marL="914400" lvl="1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 b="1"/>
            </a:lvl2pPr>
            <a:lvl3pPr marL="1371600" lvl="2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8640" b="1"/>
            </a:lvl3pPr>
            <a:lvl4pPr marL="1828800" lvl="3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4pPr>
            <a:lvl5pPr marL="2286000" lvl="4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5pPr>
            <a:lvl6pPr marL="2743200" lvl="5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6pPr>
            <a:lvl7pPr marL="3200400" lvl="6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7pPr>
            <a:lvl8pPr marL="3657600" lvl="7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8pPr>
            <a:lvl9pPr marL="4114800" lvl="8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3023242" y="12024360"/>
            <a:ext cx="18568032" cy="17686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22219922" y="8069582"/>
            <a:ext cx="18659477" cy="3954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 b="1"/>
            </a:lvl1pPr>
            <a:lvl2pPr marL="914400" lvl="1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 b="1"/>
            </a:lvl2pPr>
            <a:lvl3pPr marL="1371600" lvl="2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8640" b="1"/>
            </a:lvl3pPr>
            <a:lvl4pPr marL="1828800" lvl="3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4pPr>
            <a:lvl5pPr marL="2286000" lvl="4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5pPr>
            <a:lvl6pPr marL="2743200" lvl="5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6pPr>
            <a:lvl7pPr marL="3200400" lvl="6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7pPr>
            <a:lvl8pPr marL="3657600" lvl="7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8pPr>
            <a:lvl9pPr marL="4114800" lvl="8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22219922" y="12024360"/>
            <a:ext cx="18659477" cy="17686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536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18659477" y="4739647"/>
            <a:ext cx="22219920" cy="233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120396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5360"/>
              <a:buChar char="•"/>
              <a:defRPr sz="15360"/>
            </a:lvl1pPr>
            <a:lvl2pPr marL="914400" lvl="1" indent="-108204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3440"/>
              <a:buChar char="•"/>
              <a:defRPr sz="13440"/>
            </a:lvl2pPr>
            <a:lvl3pPr marL="1371600" lvl="2" indent="-96012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Char char="•"/>
              <a:defRPr sz="11520"/>
            </a:lvl3pPr>
            <a:lvl4pPr marL="1828800" lvl="3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4pPr>
            <a:lvl5pPr marL="2286000" lvl="4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5pPr>
            <a:lvl6pPr marL="2743200" lvl="5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6pPr>
            <a:lvl7pPr marL="3200400" lvl="6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7pPr>
            <a:lvl8pPr marL="3657600" lvl="7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8pPr>
            <a:lvl9pPr marL="4114800" lvl="8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3023237" y="9875520"/>
            <a:ext cx="14156054" cy="1829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1pPr>
            <a:lvl2pPr marL="914400" lvl="1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6720"/>
            </a:lvl2pPr>
            <a:lvl3pPr marL="1371600" lvl="2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/>
            </a:lvl3pPr>
            <a:lvl4pPr marL="1828800" lvl="3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marL="2286000" lvl="4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marL="2743200" lvl="5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marL="3200400" lvl="6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marL="3657600" lvl="7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marL="4114800" lvl="8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536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8659477" y="4739647"/>
            <a:ext cx="22219920" cy="233934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023237" y="9875520"/>
            <a:ext cx="14156054" cy="1829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1pPr>
            <a:lvl2pPr marL="914400" lvl="1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6720"/>
            </a:lvl2pPr>
            <a:lvl3pPr marL="1371600" lvl="2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/>
            </a:lvl3pPr>
            <a:lvl4pPr marL="1828800" lvl="3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marL="2286000" lvl="4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marL="2743200" lvl="5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marL="3200400" lvl="6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marL="3657600" lvl="7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marL="4114800" lvl="8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11502389" y="278131"/>
            <a:ext cx="20886422" cy="3785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22193251" y="10968991"/>
            <a:ext cx="27896822" cy="946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2990851" y="1779271"/>
            <a:ext cx="27896822" cy="27843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20"/>
              <a:buFont typeface="Calibri"/>
              <a:buNone/>
              <a:defRPr sz="211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1082040" algn="l" rtl="0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3440"/>
              <a:buFont typeface="Arial"/>
              <a:buChar char="•"/>
              <a:defRPr sz="134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6012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Font typeface="Arial"/>
              <a:buChar char="•"/>
              <a:defRPr sz="115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3820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hyperlink" Target="https://github.com/zcochran27/HDSI-SCHOLARSHIP-PROJECT-SOCCER-DATA" TargetMode="External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>
          <a:extLst>
            <a:ext uri="{FF2B5EF4-FFF2-40B4-BE49-F238E27FC236}">
              <a16:creationId xmlns:a16="http://schemas.microsoft.com/office/drawing/2014/main" id="{529A38EA-A239-452F-7887-AA0BBF923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>
            <a:extLst>
              <a:ext uri="{FF2B5EF4-FFF2-40B4-BE49-F238E27FC236}">
                <a16:creationId xmlns:a16="http://schemas.microsoft.com/office/drawing/2014/main" id="{BEAEA87C-7925-C68C-9FCD-4C1169069CE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7445" y="30582238"/>
            <a:ext cx="7779964" cy="1682019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>
            <a:extLst>
              <a:ext uri="{FF2B5EF4-FFF2-40B4-BE49-F238E27FC236}">
                <a16:creationId xmlns:a16="http://schemas.microsoft.com/office/drawing/2014/main" id="{DE7729E4-D866-9CBE-964F-97F88CD57CA8}"/>
              </a:ext>
            </a:extLst>
          </p:cNvPr>
          <p:cNvSpPr txBox="1"/>
          <p:nvPr/>
        </p:nvSpPr>
        <p:spPr>
          <a:xfrm>
            <a:off x="36377482" y="31285528"/>
            <a:ext cx="7391678" cy="978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76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datascience.ucsd.edu</a:t>
            </a:r>
            <a:endParaRPr dirty="0"/>
          </a:p>
        </p:txBody>
      </p:sp>
      <p:sp>
        <p:nvSpPr>
          <p:cNvPr id="86" name="Google Shape;86;p1">
            <a:extLst>
              <a:ext uri="{FF2B5EF4-FFF2-40B4-BE49-F238E27FC236}">
                <a16:creationId xmlns:a16="http://schemas.microsoft.com/office/drawing/2014/main" id="{D3210117-071B-8D6B-16A0-7FBCAAB412C5}"/>
              </a:ext>
            </a:extLst>
          </p:cNvPr>
          <p:cNvSpPr/>
          <p:nvPr/>
        </p:nvSpPr>
        <p:spPr>
          <a:xfrm>
            <a:off x="736419" y="3292102"/>
            <a:ext cx="13397467" cy="723824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000" b="0" i="0" u="none" strike="noStrike" cap="none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Background</a:t>
            </a:r>
            <a:r>
              <a:rPr lang="en-US" sz="60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:  </a:t>
            </a:r>
          </a:p>
          <a:p>
            <a:pPr marL="457200" lvl="1">
              <a:spcAft>
                <a:spcPts val="600"/>
              </a:spcAft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Valuing actions in soccer is one of the hardest and most crucial parts for both game analysis and recruiting. F</a:t>
            </a: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rameworks like </a:t>
            </a:r>
            <a:r>
              <a:rPr lang="en-US" sz="3600" dirty="0" err="1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xG</a:t>
            </a: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 (Probability of shot being scored), </a:t>
            </a:r>
            <a:r>
              <a:rPr lang="en-US" sz="3600" dirty="0" err="1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xT</a:t>
            </a: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 (Probability of scoring in next k actions), and VAEP (Change in probability of scoring) excel at modeling offensive contributions but struggle with defensive actions. Here, my work takes a counterfactual approach: measuring how a defender's action compares to the expected outcome.</a:t>
            </a:r>
            <a:endParaRPr sz="3600" dirty="0">
              <a:solidFill>
                <a:schemeClr val="bg2"/>
              </a:solidFill>
              <a:latin typeface="Calibri"/>
              <a:ea typeface="Calibri"/>
              <a:cs typeface="Calibri"/>
            </a:endParaRPr>
          </a:p>
          <a:p>
            <a:pPr marL="457200" marR="0" lvl="1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000" b="0" i="0" u="none" strike="noStrike" cap="none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Task</a:t>
            </a:r>
            <a:r>
              <a:rPr lang="en-US" sz="60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457200" marR="0" lvl="1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From observed defensive duels, model defensive duel value as the expected danger minus the actual danger of the duel. </a:t>
            </a:r>
            <a:endParaRPr sz="3600" dirty="0">
              <a:solidFill>
                <a:schemeClr val="bg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" name="Google Shape;87;p1">
            <a:extLst>
              <a:ext uri="{FF2B5EF4-FFF2-40B4-BE49-F238E27FC236}">
                <a16:creationId xmlns:a16="http://schemas.microsoft.com/office/drawing/2014/main" id="{BDD92D97-BB09-767B-9890-5265CCC14A7F}"/>
              </a:ext>
            </a:extLst>
          </p:cNvPr>
          <p:cNvSpPr/>
          <p:nvPr/>
        </p:nvSpPr>
        <p:spPr>
          <a:xfrm>
            <a:off x="30474909" y="25336063"/>
            <a:ext cx="12520766" cy="440097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0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Conclusion:</a:t>
            </a: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Estimating defensive duel value as expected danger – observed danger gives us a wholistic view about a player’s / team’s defensive capabilities for analysis and recruiting purposes.  We were also able to determine the factors that makes defensive duels difficult and dangerous. </a:t>
            </a:r>
            <a:endParaRPr sz="3600" dirty="0">
              <a:solidFill>
                <a:schemeClr val="bg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8C200DFB-EEC2-359D-3B52-E314090FE151}"/>
              </a:ext>
            </a:extLst>
          </p:cNvPr>
          <p:cNvSpPr txBox="1"/>
          <p:nvPr/>
        </p:nvSpPr>
        <p:spPr>
          <a:xfrm>
            <a:off x="736418" y="20820926"/>
            <a:ext cx="13397467" cy="897349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FBE4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Defensive Duel Value (DDV) Definition</a:t>
            </a:r>
            <a:endParaRPr sz="60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Where P(goal) is the probability of conceding a goal in the next 20 seconds and c is the outcome of the duel (beat, stopped, or recovered) and s are the speed of play features.</a:t>
            </a: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4B5A7F0C-78E0-0C62-1DE2-BE83A884DE5E}"/>
              </a:ext>
            </a:extLst>
          </p:cNvPr>
          <p:cNvSpPr txBox="1"/>
          <p:nvPr/>
        </p:nvSpPr>
        <p:spPr>
          <a:xfrm>
            <a:off x="736418" y="10956476"/>
            <a:ext cx="13397467" cy="9438322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FBE4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2">
              <a:spcAft>
                <a:spcPts val="600"/>
              </a:spcAft>
            </a:pPr>
            <a:r>
              <a:rPr lang="en-US" sz="60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Methods</a:t>
            </a:r>
            <a:r>
              <a:rPr lang="en-US" sz="432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</a:p>
          <a:p>
            <a:pPr marL="1028700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800k+ defensive duels across 7k+ D1 Wyscout matches.</a:t>
            </a:r>
          </a:p>
          <a:p>
            <a:pPr marL="1028700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Derived play outcome as a goal being conceded within 20 sec.</a:t>
            </a:r>
          </a:p>
          <a:p>
            <a:pPr marL="1028700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Engineered 3 speed of play features to capture context.</a:t>
            </a:r>
          </a:p>
          <a:p>
            <a:pPr marL="1947672" lvl="2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Ball Progression: Net displacement in x of the ball in past 30 sec.</a:t>
            </a:r>
          </a:p>
          <a:p>
            <a:pPr marL="1947672" lvl="2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Ball Tempo: Total distance the ball travelled in past 30 sec.</a:t>
            </a:r>
          </a:p>
          <a:p>
            <a:pPr marL="1947672" lvl="2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Change in Tempo: Ratio of ball travel distance in 30 sec over ball travel distance in 60 sec.</a:t>
            </a:r>
          </a:p>
          <a:p>
            <a:pPr marL="1028700" lvl="2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Trained two light gradient boosting models given the spatial and speed of play features.</a:t>
            </a:r>
          </a:p>
          <a:p>
            <a:pPr marL="1947672" lvl="5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First, to predict outcome of the duel (beat, stopped, recovered)</a:t>
            </a:r>
          </a:p>
          <a:p>
            <a:pPr marL="1947672" lvl="5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Second, to predict danger of the duel (goal conceded in 20s)</a:t>
            </a: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32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5F4E388E-A389-13FD-737F-4D0D71FF78A4}"/>
              </a:ext>
            </a:extLst>
          </p:cNvPr>
          <p:cNvSpPr txBox="1"/>
          <p:nvPr/>
        </p:nvSpPr>
        <p:spPr>
          <a:xfrm>
            <a:off x="30474909" y="3292101"/>
            <a:ext cx="12520766" cy="21582665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FBE4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Model Inference:</a:t>
            </a: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Scan the QR code or visit the GitHub to </a:t>
            </a: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explore the model results in more depth.</a:t>
            </a: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48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Key Insights:</a:t>
            </a:r>
          </a:p>
          <a:p>
            <a:pPr marL="1028700" marR="0" lvl="0" indent="-571500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Duels at the corners of the 18 are significantly more difficult (~15%).</a:t>
            </a:r>
          </a:p>
          <a:p>
            <a:pPr marL="1028700" marR="0" lvl="0" indent="-571500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Losing duels in the box is extremely dangerous.</a:t>
            </a:r>
          </a:p>
          <a:p>
            <a:pPr marL="1028700" lvl="8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Total ball movement can affect difficulty by ~15% at the corners of the 18 and can affect danger by ~10% in the center of box.</a:t>
            </a:r>
          </a:p>
          <a:p>
            <a:pPr marL="1028700" lvl="3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A large negative displacement in x in past 30s increases p(recovered) in middle of box by ~4% but increases p(beat) at corners of 18 by ~2%.</a:t>
            </a:r>
          </a:p>
          <a:p>
            <a:pPr marL="1028700" lvl="3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Large difference in tempo between 30s an 60s  increases P(recovered) by ~4%.</a:t>
            </a:r>
          </a:p>
          <a:p>
            <a:pPr marL="457200">
              <a:spcAft>
                <a:spcPts val="600"/>
              </a:spcAft>
            </a:pPr>
            <a:r>
              <a:rPr lang="en-US" sz="48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Performance Validation:</a:t>
            </a:r>
          </a:p>
          <a:p>
            <a:pPr marL="1028700" lvl="3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High duel value is significantly correlated with lower mean goals conceded across a season.</a:t>
            </a:r>
          </a:p>
          <a:p>
            <a:pPr marL="1028700" lvl="3" indent="-5715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Duel value is a significantly better predictor of mean goals conceded than current defensive metrics.</a:t>
            </a:r>
          </a:p>
          <a:p>
            <a:pPr marL="1028700" lvl="3" indent="-571500">
              <a:buFont typeface="Arial" panose="020B0604020202020204" pitchFamily="34" charset="0"/>
              <a:buChar char="•"/>
            </a:pPr>
            <a:endParaRPr lang="en-US" sz="32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>
            <a:extLst>
              <a:ext uri="{FF2B5EF4-FFF2-40B4-BE49-F238E27FC236}">
                <a16:creationId xmlns:a16="http://schemas.microsoft.com/office/drawing/2014/main" id="{6F197A9B-7A72-A03C-0118-C4CA4B9A9CD6}"/>
              </a:ext>
            </a:extLst>
          </p:cNvPr>
          <p:cNvSpPr txBox="1"/>
          <p:nvPr/>
        </p:nvSpPr>
        <p:spPr>
          <a:xfrm>
            <a:off x="736428" y="834375"/>
            <a:ext cx="18739800" cy="9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760" b="1" dirty="0">
                <a:solidFill>
                  <a:schemeClr val="lt1"/>
                </a:solidFill>
              </a:rPr>
              <a:t>Valuing</a:t>
            </a:r>
            <a:r>
              <a:rPr lang="en-US" sz="576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Defensive Duels in </a:t>
            </a:r>
            <a:r>
              <a:rPr lang="en-US" sz="5760" b="1" dirty="0">
                <a:solidFill>
                  <a:schemeClr val="lt1"/>
                </a:solidFill>
              </a:rPr>
              <a:t>D1 Soccer</a:t>
            </a:r>
            <a:endParaRPr dirty="0"/>
          </a:p>
        </p:txBody>
      </p:sp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2402D659-48F7-77A2-205F-6D48ACF47922}"/>
              </a:ext>
            </a:extLst>
          </p:cNvPr>
          <p:cNvSpPr txBox="1"/>
          <p:nvPr/>
        </p:nvSpPr>
        <p:spPr>
          <a:xfrm>
            <a:off x="26357786" y="764711"/>
            <a:ext cx="16325100" cy="9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76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Cochran</a:t>
            </a:r>
            <a:r>
              <a:rPr lang="en-US" sz="5760" b="1" dirty="0">
                <a:solidFill>
                  <a:schemeClr val="lt1"/>
                </a:solidFill>
              </a:rPr>
              <a:t>, Zach</a:t>
            </a:r>
            <a:endParaRPr dirty="0"/>
          </a:p>
        </p:txBody>
      </p:sp>
      <p:sp>
        <p:nvSpPr>
          <p:cNvPr id="7" name="Google Shape;91;p1">
            <a:extLst>
              <a:ext uri="{FF2B5EF4-FFF2-40B4-BE49-F238E27FC236}">
                <a16:creationId xmlns:a16="http://schemas.microsoft.com/office/drawing/2014/main" id="{6CB9A6EC-B8F4-41F3-8F7C-DDFFED46D39D}"/>
              </a:ext>
            </a:extLst>
          </p:cNvPr>
          <p:cNvSpPr txBox="1"/>
          <p:nvPr/>
        </p:nvSpPr>
        <p:spPr>
          <a:xfrm>
            <a:off x="736418" y="1813264"/>
            <a:ext cx="187398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3600" b="1" dirty="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https://github.com/zcochran27/HDSI-SCHOLARSHIP-PROJECT-SOCCER-DATA</a:t>
            </a:r>
            <a:endParaRPr sz="36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1E3AFAC-6AC9-4B0C-BABC-0AB23DFD90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541" y="28485523"/>
            <a:ext cx="10133381" cy="1014638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EAD4FD7D-1B05-3D5A-C45A-683F8E0433DA}"/>
              </a:ext>
            </a:extLst>
          </p:cNvPr>
          <p:cNvGrpSpPr/>
          <p:nvPr/>
        </p:nvGrpSpPr>
        <p:grpSpPr>
          <a:xfrm>
            <a:off x="1429117" y="22216804"/>
            <a:ext cx="12012067" cy="3916539"/>
            <a:chOff x="1429117" y="21312458"/>
            <a:chExt cx="12012067" cy="3916539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E253545-ADB8-EF6D-6D02-6D579DB92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827323" y="21312458"/>
              <a:ext cx="11215656" cy="77412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86E5D84-01B5-7917-81D9-78DCD59D5C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67281" y="24353815"/>
              <a:ext cx="11973903" cy="875182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BB6C92F-4548-950E-5D08-955257E53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429117" y="22512706"/>
              <a:ext cx="12012067" cy="1414981"/>
            </a:xfrm>
            <a:prstGeom prst="rect">
              <a:avLst/>
            </a:prstGeom>
          </p:spPr>
        </p:pic>
      </p:grpSp>
      <p:sp>
        <p:nvSpPr>
          <p:cNvPr id="21" name="Google Shape;90;p1">
            <a:extLst>
              <a:ext uri="{FF2B5EF4-FFF2-40B4-BE49-F238E27FC236}">
                <a16:creationId xmlns:a16="http://schemas.microsoft.com/office/drawing/2014/main" id="{ECADE1E4-CFFC-7506-2A40-A869F671FADD}"/>
              </a:ext>
            </a:extLst>
          </p:cNvPr>
          <p:cNvSpPr txBox="1"/>
          <p:nvPr/>
        </p:nvSpPr>
        <p:spPr>
          <a:xfrm>
            <a:off x="14559379" y="23162931"/>
            <a:ext cx="15488701" cy="6470648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FBE4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dirty="0">
                <a:solidFill>
                  <a:srgbClr val="0179A3"/>
                </a:solidFill>
                <a:latin typeface="Calibri"/>
                <a:ea typeface="Calibri"/>
                <a:cs typeface="Calibri"/>
                <a:sym typeface="Calibri"/>
              </a:rPr>
              <a:t>DDV Density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chemeClr val="bg2"/>
                </a:solidFill>
                <a:latin typeface="Calibri"/>
                <a:ea typeface="Calibri"/>
                <a:cs typeface="Calibri"/>
                <a:sym typeface="Calibri"/>
              </a:rPr>
              <a:t>From all 800k duels which actions have the most defensive duel value given the defenders outcome.</a:t>
            </a:r>
            <a:endParaRPr lang="en-US" sz="6000" dirty="0">
              <a:solidFill>
                <a:schemeClr val="bg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B2385-4986-0CA5-A551-CB84D5E0081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333715" y="3292102"/>
            <a:ext cx="2661960" cy="2661960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37BBB70A-F4A5-D9C3-F0DB-6847E57F6C09}"/>
              </a:ext>
            </a:extLst>
          </p:cNvPr>
          <p:cNvGraphicFramePr>
            <a:graphicFrameLocks noGrp="1"/>
          </p:cNvGraphicFramePr>
          <p:nvPr/>
        </p:nvGraphicFramePr>
        <p:xfrm>
          <a:off x="36377481" y="20820926"/>
          <a:ext cx="6618194" cy="405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9097">
                  <a:extLst>
                    <a:ext uri="{9D8B030D-6E8A-4147-A177-3AD203B41FA5}">
                      <a16:colId xmlns:a16="http://schemas.microsoft.com/office/drawing/2014/main" val="590112637"/>
                    </a:ext>
                  </a:extLst>
                </a:gridCol>
                <a:gridCol w="3309097">
                  <a:extLst>
                    <a:ext uri="{9D8B030D-6E8A-4147-A177-3AD203B41FA5}">
                      <a16:colId xmlns:a16="http://schemas.microsoft.com/office/drawing/2014/main" val="2148568172"/>
                    </a:ext>
                  </a:extLst>
                </a:gridCol>
              </a:tblGrid>
              <a:tr h="464760">
                <a:tc>
                  <a:txBody>
                    <a:bodyPr/>
                    <a:lstStyle/>
                    <a:p>
                      <a:r>
                        <a:rPr lang="en-US" sz="3200" dirty="0"/>
                        <a:t>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R Squared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4984081"/>
                  </a:ext>
                </a:extLst>
              </a:tr>
              <a:tr h="464760">
                <a:tc>
                  <a:txBody>
                    <a:bodyPr/>
                    <a:lstStyle/>
                    <a:p>
                      <a:r>
                        <a:rPr lang="en-US" sz="3200" dirty="0"/>
                        <a:t>Sum Duel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.11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8250536"/>
                  </a:ext>
                </a:extLst>
              </a:tr>
              <a:tr h="464760">
                <a:tc>
                  <a:txBody>
                    <a:bodyPr/>
                    <a:lstStyle/>
                    <a:p>
                      <a:r>
                        <a:rPr lang="en-US" sz="3200" dirty="0"/>
                        <a:t>Mean Duel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846595"/>
                  </a:ext>
                </a:extLst>
              </a:tr>
              <a:tr h="464760">
                <a:tc>
                  <a:txBody>
                    <a:bodyPr/>
                    <a:lstStyle/>
                    <a:p>
                      <a:r>
                        <a:rPr lang="en-US" sz="3200" dirty="0"/>
                        <a:t>Recover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.08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2730002"/>
                  </a:ext>
                </a:extLst>
              </a:tr>
              <a:tr h="464760">
                <a:tc>
                  <a:txBody>
                    <a:bodyPr/>
                    <a:lstStyle/>
                    <a:p>
                      <a:r>
                        <a:rPr lang="en-US" sz="3200" dirty="0"/>
                        <a:t>Stopped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.05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321552"/>
                  </a:ext>
                </a:extLst>
              </a:tr>
              <a:tr h="464760">
                <a:tc>
                  <a:txBody>
                    <a:bodyPr/>
                    <a:lstStyle/>
                    <a:p>
                      <a:r>
                        <a:rPr lang="en-US" sz="3200" dirty="0"/>
                        <a:t>Recover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.01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4952156"/>
                  </a:ext>
                </a:extLst>
              </a:tr>
              <a:tr h="464760">
                <a:tc>
                  <a:txBody>
                    <a:bodyPr/>
                    <a:lstStyle/>
                    <a:p>
                      <a:r>
                        <a:rPr lang="en-US" sz="3200" dirty="0"/>
                        <a:t>Stop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/>
                        <a:t>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7915509"/>
                  </a:ext>
                </a:extLst>
              </a:tr>
            </a:tbl>
          </a:graphicData>
        </a:graphic>
      </p:graphicFrame>
      <p:pic>
        <p:nvPicPr>
          <p:cNvPr id="37" name="Picture 36">
            <a:extLst>
              <a:ext uri="{FF2B5EF4-FFF2-40B4-BE49-F238E27FC236}">
                <a16:creationId xmlns:a16="http://schemas.microsoft.com/office/drawing/2014/main" id="{8786DF91-EC84-E88B-4409-40B17E854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473574" y="20865366"/>
            <a:ext cx="5903907" cy="4039617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056B8BD3-DFEB-913A-F362-7892D1B7765F}"/>
              </a:ext>
            </a:extLst>
          </p:cNvPr>
          <p:cNvGrpSpPr/>
          <p:nvPr/>
        </p:nvGrpSpPr>
        <p:grpSpPr>
          <a:xfrm>
            <a:off x="14524832" y="3292101"/>
            <a:ext cx="15489936" cy="18595612"/>
            <a:chOff x="14562120" y="3348494"/>
            <a:chExt cx="15489936" cy="18595612"/>
          </a:xfrm>
        </p:grpSpPr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568FB863-95BF-4630-2C7C-EEA2FD7CABA7}"/>
                </a:ext>
              </a:extLst>
            </p:cNvPr>
            <p:cNvSpPr/>
            <p:nvPr/>
          </p:nvSpPr>
          <p:spPr>
            <a:xfrm>
              <a:off x="21479774" y="15383367"/>
              <a:ext cx="1654628" cy="1689382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Plus Sign 5">
              <a:extLst>
                <a:ext uri="{FF2B5EF4-FFF2-40B4-BE49-F238E27FC236}">
                  <a16:creationId xmlns:a16="http://schemas.microsoft.com/office/drawing/2014/main" id="{CA1FDE7C-8842-489B-AA93-2FB276EC0165}"/>
                </a:ext>
              </a:extLst>
            </p:cNvPr>
            <p:cNvSpPr/>
            <p:nvPr/>
          </p:nvSpPr>
          <p:spPr>
            <a:xfrm>
              <a:off x="21327374" y="8327509"/>
              <a:ext cx="1959428" cy="1939293"/>
            </a:xfrm>
            <a:prstGeom prst="mathPlus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5C61E1-D937-EE24-EE11-EE654FEC00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562554" y="3348494"/>
              <a:ext cx="15489069" cy="477493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D69892E-50DF-ADDB-E945-4B1341706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4562120" y="10470887"/>
              <a:ext cx="15489936" cy="4708395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3657937-8484-AC48-F175-1CFA794C5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4562120" y="17276833"/>
              <a:ext cx="15489936" cy="4667273"/>
            </a:xfrm>
            <a:prstGeom prst="rect">
              <a:avLst/>
            </a:prstGeom>
          </p:spPr>
        </p:pic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2B74D41B-8766-F746-83EB-77C820E9020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534559" y="25997867"/>
            <a:ext cx="15538340" cy="379654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FF8CA07-FBE4-4D3D-738B-ADFB5B3928E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473573" y="6030625"/>
            <a:ext cx="12545568" cy="642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064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5979</TotalTime>
  <Words>560</Words>
  <Application>Microsoft Office PowerPoint</Application>
  <PresentationFormat>Custom</PresentationFormat>
  <Paragraphs>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SDSC ITS</dc:creator>
  <cp:lastModifiedBy>Zach Cochran</cp:lastModifiedBy>
  <cp:revision>11</cp:revision>
  <dcterms:created xsi:type="dcterms:W3CDTF">2019-02-25T23:19:29Z</dcterms:created>
  <dcterms:modified xsi:type="dcterms:W3CDTF">2026-05-04T20:33:46Z</dcterms:modified>
</cp:coreProperties>
</file>